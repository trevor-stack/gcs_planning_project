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8d610823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8d610823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8d610823f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8d610823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8d610823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8d610823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6b6ab4e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6b6ab4e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6b6ab4e9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6b6ab4e9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8d610823f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8d610823f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8d610823f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8d610823f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8d610823f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8d610823f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8d610823f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8d610823f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8d610823f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8d610823f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6b6ab4e9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6b6ab4e9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8d610823f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8d610823f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8d610823f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d8d610823f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8d610823f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d8d610823f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8d610823f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8d610823f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8d610823f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d8d610823f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b6ab4e9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d6b6ab4e9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8d610823f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d8d610823f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8d610823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d8d610823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hyperlink" Target="https://arxiv.org/abs/2205.04422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.png"/><Relationship Id="rId6" Type="http://schemas.openxmlformats.org/officeDocument/2006/relationships/hyperlink" Target="https://arxiv.org/abs/2302.12219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gif"/><Relationship Id="rId4" Type="http://schemas.openxmlformats.org/officeDocument/2006/relationships/image" Target="../media/image26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gif"/><Relationship Id="rId4" Type="http://schemas.openxmlformats.org/officeDocument/2006/relationships/image" Target="../media/image29.gif"/><Relationship Id="rId5" Type="http://schemas.openxmlformats.org/officeDocument/2006/relationships/image" Target="../media/image27.gif"/><Relationship Id="rId6" Type="http://schemas.openxmlformats.org/officeDocument/2006/relationships/image" Target="../media/image30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arxiv.org/abs/2205.04422" TargetMode="External"/><Relationship Id="rId4" Type="http://schemas.openxmlformats.org/officeDocument/2006/relationships/hyperlink" Target="https://arxiv.org/abs/2302.12219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automaticaddison.com/force-vector-diagrams-for-an-omni-directional-mobile-robot/" TargetMode="External"/><Relationship Id="rId4" Type="http://schemas.openxmlformats.org/officeDocument/2006/relationships/hyperlink" Target="https://web2.qatar.cmu.edu/~gdicaro/16311-Fall17/slides/16311-4-Holonomy-WheeledRobots-Kinematics.pdf" TargetMode="External"/><Relationship Id="rId5" Type="http://schemas.openxmlformats.org/officeDocument/2006/relationships/hyperlink" Target="https://webflow.riders.ai/en-blog/what-is-panda-arm" TargetMode="External"/><Relationship Id="rId6" Type="http://schemas.openxmlformats.org/officeDocument/2006/relationships/hyperlink" Target="https://lavalle.pl/rrt/papers.html" TargetMode="External"/><Relationship Id="rId7" Type="http://schemas.openxmlformats.org/officeDocument/2006/relationships/hyperlink" Target="https://natanaso.github.io/ece276b2018/ref/ECE276B_5_ConfigurationSpace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Using Graphs of Convex Sets (GCS) for </a:t>
            </a:r>
            <a:endParaRPr sz="3200"/>
          </a:p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sz="3200"/>
              <a:t>Point-Robot and Manipulation Planning</a:t>
            </a:r>
            <a:endParaRPr sz="32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8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en" sz="3000"/>
              <a:t>Adv Opt Project Final Presentation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Trevor Stack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04/23/26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Background: Motion Planning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11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P</a:t>
            </a:r>
            <a:r>
              <a:rPr lang="en" sz="1700"/>
              <a:t>rocess of computing path </a:t>
            </a:r>
            <a:r>
              <a:rPr lang="en" sz="1700"/>
              <a:t>from a starting configuration to a goal configuration</a:t>
            </a:r>
            <a:r>
              <a:rPr lang="en" sz="1700"/>
              <a:t> that: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Avoids obstacles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Satisfies the robotic platform’s kinematic and dynamic constraints</a:t>
            </a:r>
            <a:endParaRPr sz="1700"/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551" y="2222238"/>
            <a:ext cx="2149050" cy="127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2625" y="2191825"/>
            <a:ext cx="1670475" cy="133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5">
            <a:alphaModFix/>
          </a:blip>
          <a:srcRect b="0" l="15977" r="19628" t="0"/>
          <a:stretch/>
        </p:blipFill>
        <p:spPr>
          <a:xfrm>
            <a:off x="6902475" y="2175275"/>
            <a:ext cx="1322975" cy="13708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656600" y="3592750"/>
            <a:ext cx="2675400" cy="11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Holonomic Robot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No restriction on instantaneous velocity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Plan in (x,y)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480150" y="3592750"/>
            <a:ext cx="2675400" cy="11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Non-</a:t>
            </a:r>
            <a:r>
              <a:rPr b="1" lang="en">
                <a:solidFill>
                  <a:schemeClr val="dk1"/>
                </a:solidFill>
              </a:rPr>
              <a:t>Holonomic Robot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Cannot move sideways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Plan in (x,y,</a:t>
            </a:r>
            <a:r>
              <a:rPr lang="en" sz="1200">
                <a:solidFill>
                  <a:schemeClr val="lt2"/>
                </a:solidFill>
              </a:rPr>
              <a:t> </a:t>
            </a:r>
            <a:r>
              <a:rPr lang="en" sz="1200">
                <a:solidFill>
                  <a:schemeClr val="lt2"/>
                </a:solidFill>
              </a:rPr>
              <a:t>θ</a:t>
            </a:r>
            <a:r>
              <a:rPr lang="en" sz="1200">
                <a:solidFill>
                  <a:schemeClr val="lt2"/>
                </a:solidFill>
              </a:rPr>
              <a:t>)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Edges must satisfy robot’s kinematic constraints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6226250" y="3620250"/>
            <a:ext cx="2675400" cy="11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Robot Arm</a:t>
            </a:r>
            <a:endParaRPr sz="1300">
              <a:solidFill>
                <a:schemeClr val="l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Higher DOF (7 for Panda)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Plan in c-space </a:t>
            </a:r>
            <a:endParaRPr sz="1200">
              <a:solidFill>
                <a:schemeClr val="lt2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</a:pPr>
            <a:r>
              <a:rPr lang="en" sz="1100">
                <a:solidFill>
                  <a:schemeClr val="lt2"/>
                </a:solidFill>
              </a:rPr>
              <a:t>(q_1, … , q_n)</a:t>
            </a:r>
            <a:endParaRPr sz="1100">
              <a:solidFill>
                <a:schemeClr val="l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Obstacle mapping to c-space is complex b/c of FK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848350" y="2138825"/>
            <a:ext cx="2265900" cy="28020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6412600" y="2096550"/>
            <a:ext cx="2368500" cy="28443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</a:t>
            </a:r>
            <a:r>
              <a:rPr lang="en"/>
              <a:t> Work: Search and Sampling-Based Methods 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</a:rPr>
              <a:t>Search-Based Method (A*)</a:t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Complete, optimal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Curse of dimensionality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Discretization of free-space impacts solution quality</a:t>
            </a:r>
            <a:endParaRPr/>
          </a:p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1" y="1627599"/>
            <a:ext cx="2368884" cy="1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 rotWithShape="1">
          <a:blip r:embed="rId4">
            <a:alphaModFix/>
          </a:blip>
          <a:srcRect b="0" l="0" r="52155" t="0"/>
          <a:stretch/>
        </p:blipFill>
        <p:spPr>
          <a:xfrm>
            <a:off x="2813224" y="1627600"/>
            <a:ext cx="1165485" cy="1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Sampling-Based Method (RRT*)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Probabilistically</a:t>
            </a:r>
            <a:r>
              <a:rPr lang="en"/>
              <a:t> complete, a</a:t>
            </a:r>
            <a:r>
              <a:rPr lang="en"/>
              <a:t>symptotically</a:t>
            </a:r>
            <a:r>
              <a:rPr lang="en"/>
              <a:t> optimal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May need a high number of samples to find paths through narrow passageways or to return a quality </a:t>
            </a:r>
            <a:r>
              <a:rPr lang="en"/>
              <a:t>solution</a:t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7950" y="1713200"/>
            <a:ext cx="1996800" cy="1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 rotWithShape="1">
          <a:blip r:embed="rId6">
            <a:alphaModFix/>
          </a:blip>
          <a:srcRect b="0" l="0" r="0" t="6139"/>
          <a:stretch/>
        </p:blipFill>
        <p:spPr>
          <a:xfrm>
            <a:off x="7251043" y="1713197"/>
            <a:ext cx="1081182" cy="1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1827100" y="4150400"/>
            <a:ext cx="4656000" cy="659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Both typically require post-processing to produce smooth, kinematically feasible trajectories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Motivation: Can we use convex optimization can be used to produce smooth, kinematically feasible trajectories?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311700" y="1508875"/>
            <a:ext cx="3999900" cy="30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Problem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C-Space can be non-convex</a:t>
            </a:r>
            <a:endParaRPr/>
          </a:p>
        </p:txBody>
      </p:sp>
      <p:sp>
        <p:nvSpPr>
          <p:cNvPr id="90" name="Google Shape;90;p16"/>
          <p:cNvSpPr txBox="1"/>
          <p:nvPr>
            <p:ph idx="2" type="body"/>
          </p:nvPr>
        </p:nvSpPr>
        <p:spPr>
          <a:xfrm>
            <a:off x="4572000" y="1508875"/>
            <a:ext cx="4354200" cy="30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00"/>
                </a:solidFill>
              </a:rPr>
              <a:t>Solution:</a:t>
            </a:r>
            <a:r>
              <a:rPr b="1" lang="en"/>
              <a:t> Graphs of Convex Sets </a:t>
            </a:r>
            <a:r>
              <a:rPr lang="en"/>
              <a:t>[1]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Steps: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Decompose the free c-space into convex sets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Create the Graph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Solve a Mixed Integer Program</a:t>
            </a:r>
            <a:endParaRPr/>
          </a:p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000" y="2371075"/>
            <a:ext cx="2844551" cy="154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375306"/>
            <a:ext cx="4302300" cy="128791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/>
        </p:nvSpPr>
        <p:spPr>
          <a:xfrm>
            <a:off x="807800" y="4789150"/>
            <a:ext cx="69417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2"/>
                </a:solidFill>
              </a:rPr>
              <a:t>[1] T. Marcucci, M. Petersen, D. von Wrangel, and R. Tedrake, “Motion planning around obstacles with convex optimization,” 2022. [Online]. Available: </a:t>
            </a:r>
            <a:r>
              <a:rPr lang="en" sz="6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https://arxiv.org/abs/2205.04422</a:t>
            </a:r>
            <a:endParaRPr sz="1200">
              <a:solidFill>
                <a:schemeClr val="lt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3-Joint Robot Arm</a:t>
            </a:r>
            <a:endParaRPr/>
          </a:p>
        </p:txBody>
      </p:sp>
      <p:sp>
        <p:nvSpPr>
          <p:cNvPr id="100" name="Google Shape;10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r>
              <a:rPr lang="en"/>
              <a:t> Setup:</a:t>
            </a:r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Point Robot </a:t>
            </a:r>
            <a:endParaRPr/>
          </a:p>
        </p:txBody>
      </p:sp>
      <p:sp>
        <p:nvSpPr>
          <p:cNvPr id="102" name="Google Shape;10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3" name="Google Shape;103;p17" title="point_robot_map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850" y="1573253"/>
            <a:ext cx="2873600" cy="2940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 title="robotarm_map3_star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7739" y="1706200"/>
            <a:ext cx="1868599" cy="191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 title="robotarm_map3_en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8362" y="1695709"/>
            <a:ext cx="1868599" cy="19123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17"/>
          <p:cNvCxnSpPr/>
          <p:nvPr/>
        </p:nvCxnSpPr>
        <p:spPr>
          <a:xfrm>
            <a:off x="5882675" y="3187875"/>
            <a:ext cx="2016900" cy="270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Convex Decomposition of Point Robot’s C-Space </a:t>
            </a:r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Constrained Delauney Triangulation [2]</a:t>
            </a:r>
            <a:endParaRPr/>
          </a:p>
        </p:txBody>
      </p:sp>
      <p:sp>
        <p:nvSpPr>
          <p:cNvPr id="113" name="Google Shape;113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Grouping Triangles into Convex Regions</a:t>
            </a:r>
            <a:endParaRPr/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813" y="1559212"/>
            <a:ext cx="2835674" cy="290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4513" y="1559211"/>
            <a:ext cx="2835674" cy="290211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1097050" y="4736550"/>
            <a:ext cx="69747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</a:rPr>
              <a:t>[2] The CGAL Project, “CGAL: Computational geometry algorithms library,” https://www.cgal.org/, 2026, accessed: April 22, 2026.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Convex Decomposition of Robot Arm’s C-Space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Forward kinematics (FK) of robot arm is nonlinear: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Also, robot arms must avoid self collisions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Result:</a:t>
            </a:r>
            <a:r>
              <a:rPr lang="en"/>
              <a:t> C-Space is 3D and non-convex with nonlinear boundaries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CDT is not feasible in this case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4" name="Google Shape;12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1275" y="1714850"/>
            <a:ext cx="3044750" cy="7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0100" y="3346800"/>
            <a:ext cx="2759874" cy="149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Step 1: Convex Decomposition of Robot Arm’s C-Space cont.</a:t>
            </a:r>
            <a:endParaRPr sz="2320"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FF00"/>
                </a:solidFill>
              </a:rPr>
              <a:t>Solution: </a:t>
            </a:r>
            <a:r>
              <a:rPr b="1" lang="en" sz="1600">
                <a:solidFill>
                  <a:srgbClr val="00FF00"/>
                </a:solidFill>
              </a:rPr>
              <a:t> </a:t>
            </a:r>
            <a:r>
              <a:rPr lang="en" sz="1300"/>
              <a:t>Configuration-space Iterative Regional Inflation by Semidefinite programming (C-IRIS)[3]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Sequentially solves 3 convex optimization problems: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Prove current convex region is not in collision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Measure the size of an ellipse that fits inside the convex region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Find hyperplanes between current region and obstacles, expand convex region</a:t>
            </a:r>
            <a:endParaRPr sz="1300"/>
          </a:p>
        </p:txBody>
      </p:sp>
      <p:sp>
        <p:nvSpPr>
          <p:cNvPr id="133" name="Google Shape;13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5750" y="2688600"/>
            <a:ext cx="1912725" cy="212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0875" y="3156324"/>
            <a:ext cx="3832149" cy="1580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0"/>
          <p:cNvPicPr preferRelativeResize="0"/>
          <p:nvPr/>
        </p:nvPicPr>
        <p:blipFill rotWithShape="1">
          <a:blip r:embed="rId5">
            <a:alphaModFix/>
          </a:blip>
          <a:srcRect b="0" l="27046" r="30321" t="15132"/>
          <a:stretch/>
        </p:blipFill>
        <p:spPr>
          <a:xfrm>
            <a:off x="333675" y="3350013"/>
            <a:ext cx="2124275" cy="119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/>
        </p:nvSpPr>
        <p:spPr>
          <a:xfrm>
            <a:off x="820950" y="4789150"/>
            <a:ext cx="7618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2"/>
                </a:solidFill>
              </a:rPr>
              <a:t>[3] H. Dai, A. Amice, P. Werner, A. Zhang, and R. Tedrake, “Certified polyhedral decompositions of collision-free configuration space,” 2023. [Online]. Available: </a:t>
            </a:r>
            <a:r>
              <a:rPr lang="en" sz="6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https://arxiv.org/abs/2302.12219</a:t>
            </a:r>
            <a:endParaRPr sz="12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2: Create the Graph</a:t>
            </a:r>
            <a:endParaRPr/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 touching/intersecting convex regions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 the start and goal configurations to the convex regions they lie in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used the Drake library for my implementation in code [4] </a:t>
            </a:r>
            <a:endParaRPr/>
          </a:p>
        </p:txBody>
      </p:sp>
      <p:sp>
        <p:nvSpPr>
          <p:cNvPr id="144" name="Google Shape;14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5" name="Google Shape;145;p21"/>
          <p:cNvPicPr preferRelativeResize="0"/>
          <p:nvPr/>
        </p:nvPicPr>
        <p:blipFill rotWithShape="1">
          <a:blip r:embed="rId3">
            <a:alphaModFix/>
          </a:blip>
          <a:srcRect b="0" l="0" r="52483" t="0"/>
          <a:stretch/>
        </p:blipFill>
        <p:spPr>
          <a:xfrm>
            <a:off x="2614650" y="2551350"/>
            <a:ext cx="3202401" cy="201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1"/>
          <p:cNvSpPr txBox="1"/>
          <p:nvPr/>
        </p:nvSpPr>
        <p:spPr>
          <a:xfrm>
            <a:off x="906400" y="4808875"/>
            <a:ext cx="72312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[4] Drake Development Team, “Drake: Model-based design and verification for robotics,” https://drake.mit.edu/, accessed: 2026-04-22.</a:t>
            </a:r>
            <a:endParaRPr sz="15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3: Solve the MIP</a:t>
            </a:r>
            <a:endParaRPr/>
          </a:p>
        </p:txBody>
      </p:sp>
      <p:sp>
        <p:nvSpPr>
          <p:cNvPr id="152" name="Google Shape;15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3" name="Google Shape;1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5295" y="2169075"/>
            <a:ext cx="5432999" cy="186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 txBox="1"/>
          <p:nvPr/>
        </p:nvSpPr>
        <p:spPr>
          <a:xfrm>
            <a:off x="1713525" y="1165475"/>
            <a:ext cx="1173300" cy="3081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Trajectory Time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55" name="Google Shape;155;p22"/>
          <p:cNvSpPr txBox="1"/>
          <p:nvPr/>
        </p:nvSpPr>
        <p:spPr>
          <a:xfrm>
            <a:off x="3001500" y="1165475"/>
            <a:ext cx="1173300" cy="3081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Trajectory Length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4289475" y="1165475"/>
            <a:ext cx="1173300" cy="3081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Energy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157" name="Google Shape;157;p22"/>
          <p:cNvCxnSpPr>
            <a:stCxn id="154" idx="2"/>
            <a:endCxn id="158" idx="0"/>
          </p:cNvCxnSpPr>
          <p:nvPr/>
        </p:nvCxnSpPr>
        <p:spPr>
          <a:xfrm>
            <a:off x="2300175" y="1473575"/>
            <a:ext cx="481800" cy="7473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22"/>
          <p:cNvCxnSpPr>
            <a:endCxn id="160" idx="0"/>
          </p:cNvCxnSpPr>
          <p:nvPr/>
        </p:nvCxnSpPr>
        <p:spPr>
          <a:xfrm flipH="1">
            <a:off x="3428225" y="1473500"/>
            <a:ext cx="900" cy="7248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22"/>
          <p:cNvCxnSpPr>
            <a:stCxn id="156" idx="2"/>
            <a:endCxn id="162" idx="0"/>
          </p:cNvCxnSpPr>
          <p:nvPr/>
        </p:nvCxnSpPr>
        <p:spPr>
          <a:xfrm flipH="1">
            <a:off x="4319625" y="1473575"/>
            <a:ext cx="556500" cy="6954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" name="Google Shape;160;p22"/>
          <p:cNvSpPr/>
          <p:nvPr/>
        </p:nvSpPr>
        <p:spPr>
          <a:xfrm>
            <a:off x="3141125" y="2198300"/>
            <a:ext cx="574200" cy="2649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2"/>
          <p:cNvSpPr/>
          <p:nvPr/>
        </p:nvSpPr>
        <p:spPr>
          <a:xfrm>
            <a:off x="2562500" y="2220925"/>
            <a:ext cx="438900" cy="2649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/>
          <p:nvPr/>
        </p:nvSpPr>
        <p:spPr>
          <a:xfrm>
            <a:off x="3827075" y="2169075"/>
            <a:ext cx="984900" cy="3168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2"/>
          <p:cNvSpPr txBox="1"/>
          <p:nvPr/>
        </p:nvSpPr>
        <p:spPr>
          <a:xfrm>
            <a:off x="7218300" y="2463200"/>
            <a:ext cx="1844700" cy="17481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3b: Continuity (Smoothness)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3c: Path stays in convex free space regions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3d: Velocity Constraint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3e: Time Constraint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3f: Path must start and end at the desired configs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3g: Start and end velocities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64" name="Google Shape;164;p22"/>
          <p:cNvSpPr txBox="1"/>
          <p:nvPr/>
        </p:nvSpPr>
        <p:spPr>
          <a:xfrm>
            <a:off x="311700" y="2895675"/>
            <a:ext cx="1221600" cy="652200"/>
          </a:xfrm>
          <a:prstGeom prst="rect">
            <a:avLst/>
          </a:prstGeom>
          <a:noFill/>
          <a:ln cap="flat" cmpd="sng" w="297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5175" lIns="95175" spcFirstLastPara="1" rIns="95175" wrap="square" tIns="95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41">
                <a:solidFill>
                  <a:schemeClr val="dk1"/>
                </a:solidFill>
              </a:rPr>
              <a:t>Path: can be parameterized by Bezier Curves</a:t>
            </a:r>
            <a:endParaRPr sz="1041">
              <a:solidFill>
                <a:schemeClr val="dk1"/>
              </a:solidFill>
            </a:endParaRPr>
          </a:p>
        </p:txBody>
      </p:sp>
      <p:cxnSp>
        <p:nvCxnSpPr>
          <p:cNvPr id="165" name="Google Shape;165;p22"/>
          <p:cNvCxnSpPr>
            <a:stCxn id="164" idx="3"/>
          </p:cNvCxnSpPr>
          <p:nvPr/>
        </p:nvCxnSpPr>
        <p:spPr>
          <a:xfrm flipH="1" rot="10800000">
            <a:off x="1533300" y="2917275"/>
            <a:ext cx="983400" cy="304500"/>
          </a:xfrm>
          <a:prstGeom prst="straightConnector1">
            <a:avLst/>
          </a:prstGeom>
          <a:noFill/>
          <a:ln cap="flat" cmpd="sng" w="297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" name="Google Shape;166;p22"/>
          <p:cNvSpPr/>
          <p:nvPr/>
        </p:nvSpPr>
        <p:spPr>
          <a:xfrm>
            <a:off x="2516700" y="2764800"/>
            <a:ext cx="370200" cy="2649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Convex Relaxation</a:t>
            </a:r>
            <a:endParaRPr/>
          </a:p>
        </p:txBody>
      </p:sp>
      <p:sp>
        <p:nvSpPr>
          <p:cNvPr id="172" name="Google Shape;172;p23"/>
          <p:cNvSpPr txBox="1"/>
          <p:nvPr>
            <p:ph idx="1" type="body"/>
          </p:nvPr>
        </p:nvSpPr>
        <p:spPr>
          <a:xfrm>
            <a:off x="311700" y="2488675"/>
            <a:ext cx="85206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5b constrains the problem to use only feasible paths. It introduces binary variables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For convex relaxation, 5b is removed and edges are weighted by a relaxed binary variable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This is equivalent to weighing </a:t>
            </a:r>
            <a:r>
              <a:rPr lang="en" sz="1300"/>
              <a:t>edges by the probability they are a part of the optimal solution</a:t>
            </a:r>
            <a:endParaRPr sz="1300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 sz="1400"/>
              <a:t>Using these </a:t>
            </a:r>
            <a:r>
              <a:rPr lang="en" sz="1400"/>
              <a:t>probabilities</a:t>
            </a:r>
            <a:r>
              <a:rPr lang="en" sz="1400"/>
              <a:t>, sample candidate paths and pick the best</a:t>
            </a:r>
            <a:endParaRPr sz="1400"/>
          </a:p>
        </p:txBody>
      </p:sp>
      <p:sp>
        <p:nvSpPr>
          <p:cNvPr id="173" name="Google Shape;17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4" name="Google Shape;17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7700" y="1017725"/>
            <a:ext cx="6047276" cy="137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3"/>
          <p:cNvSpPr/>
          <p:nvPr/>
        </p:nvSpPr>
        <p:spPr>
          <a:xfrm>
            <a:off x="2703100" y="1603500"/>
            <a:ext cx="4958700" cy="216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0700" y="2571750"/>
            <a:ext cx="246697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58725" y="2905300"/>
            <a:ext cx="948476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3"/>
          <p:cNvPicPr preferRelativeResize="0"/>
          <p:nvPr/>
        </p:nvPicPr>
        <p:blipFill rotWithShape="1">
          <a:blip r:embed="rId6">
            <a:alphaModFix/>
          </a:blip>
          <a:srcRect b="0" l="0" r="0" t="8450"/>
          <a:stretch/>
        </p:blipFill>
        <p:spPr>
          <a:xfrm>
            <a:off x="3778600" y="3852375"/>
            <a:ext cx="1586825" cy="24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3"/>
          <p:cNvSpPr txBox="1"/>
          <p:nvPr/>
        </p:nvSpPr>
        <p:spPr>
          <a:xfrm>
            <a:off x="7704975" y="1017725"/>
            <a:ext cx="1167900" cy="16275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5a. Re-formulation of objective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5b: Use only feasible edges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5c: Convex constraints w/in regions 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5d: continuity between regions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 Point Robot</a:t>
            </a:r>
            <a:endParaRPr/>
          </a:p>
        </p:txBody>
      </p:sp>
      <p:sp>
        <p:nvSpPr>
          <p:cNvPr id="185" name="Google Shape;18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6" name="Google Shape;186;p24" title="map1_result_smoot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5700" y="2279527"/>
            <a:ext cx="2559650" cy="261961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Nonsmooth</a:t>
            </a:r>
            <a:endParaRPr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Bezier order: 1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Continuity Order: 0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Path length weight: 1.0,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Path energy weight: 0.01,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Time weight: 1.0</a:t>
            </a:r>
            <a:endParaRPr/>
          </a:p>
        </p:txBody>
      </p:sp>
      <p:sp>
        <p:nvSpPr>
          <p:cNvPr id="188" name="Google Shape;188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Smooth:</a:t>
            </a:r>
            <a:endParaRPr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Bezier order: 2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Continuity Order: 1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P</a:t>
            </a:r>
            <a:r>
              <a:rPr lang="en" sz="800"/>
              <a:t>ath length weight: 0.1,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Path energy weight: 100.0,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Time weight: 0.1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1825" y="2279525"/>
            <a:ext cx="2559650" cy="26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 Robot Arm</a:t>
            </a:r>
            <a:endParaRPr/>
          </a:p>
        </p:txBody>
      </p:sp>
      <p:sp>
        <p:nvSpPr>
          <p:cNvPr id="195" name="Google Shape;195;p25"/>
          <p:cNvSpPr txBox="1"/>
          <p:nvPr>
            <p:ph idx="1" type="body"/>
          </p:nvPr>
        </p:nvSpPr>
        <p:spPr>
          <a:xfrm>
            <a:off x="311700" y="10177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Nonsmooth</a:t>
            </a:r>
            <a:endParaRPr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Bezier order: 2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Continuity Order: 0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Path length weight: 1.0,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Path energy weight: .001,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Time weight: 1.0</a:t>
            </a:r>
            <a:endParaRPr/>
          </a:p>
        </p:txBody>
      </p:sp>
      <p:sp>
        <p:nvSpPr>
          <p:cNvPr id="196" name="Google Shape;196;p25"/>
          <p:cNvSpPr txBox="1"/>
          <p:nvPr>
            <p:ph idx="2" type="body"/>
          </p:nvPr>
        </p:nvSpPr>
        <p:spPr>
          <a:xfrm>
            <a:off x="4832400" y="1017725"/>
            <a:ext cx="39999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Smooth</a:t>
            </a:r>
            <a:endParaRPr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Bezier order: 2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Continuity Order: 1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Path length weight: 1.0,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Path energy weight: 1.0,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Time weight: 1.0</a:t>
            </a:r>
            <a:endParaRPr/>
          </a:p>
        </p:txBody>
      </p:sp>
      <p:sp>
        <p:nvSpPr>
          <p:cNvPr id="197" name="Google Shape;1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8" name="Google Shape;198;p25" title="robot_animation_config4_smoothest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3700" y="2205700"/>
            <a:ext cx="2760324" cy="276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5" title="robot_animation_config4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125" y="2191638"/>
            <a:ext cx="2788426" cy="278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Results</a:t>
            </a:r>
            <a:endParaRPr/>
          </a:p>
        </p:txBody>
      </p:sp>
      <p:sp>
        <p:nvSpPr>
          <p:cNvPr id="205" name="Google Shape;205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8" name="Google Shape;208;p26" title="robot_animation_config6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6825" y="1563312"/>
            <a:ext cx="1988324" cy="1988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6" title="robot_animation_config6_map5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4125" y="1591862"/>
            <a:ext cx="1959776" cy="1959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6" title="robot_animation_config3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9075" y="1591862"/>
            <a:ext cx="1959776" cy="1959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6" title="robot_animation_config2.gi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1591862"/>
            <a:ext cx="1988326" cy="198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GCS effectively enables you to explicitly define convex constraints on your trajectory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GCS can be applied to nonconvex, complex c-spaces using C-IRIS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Convex relaxation is tight, edges had probabilities of 0 or 1.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HOWEVER: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C-IRIS is slow. You do not want to </a:t>
            </a:r>
            <a:r>
              <a:rPr lang="en"/>
              <a:t>repeatedly</a:t>
            </a:r>
            <a:r>
              <a:rPr lang="en"/>
              <a:t> do C-IRIS every time the environment changes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Convex relaxation can return an infeasible path -&gt; Need to explore further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Future work:</a:t>
            </a:r>
            <a:r>
              <a:rPr lang="en"/>
              <a:t> Riemannian Manifold Optimization  [5]</a:t>
            </a:r>
            <a:endParaRPr/>
          </a:p>
        </p:txBody>
      </p:sp>
      <p:sp>
        <p:nvSpPr>
          <p:cNvPr id="218" name="Google Shape;21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27"/>
          <p:cNvSpPr txBox="1"/>
          <p:nvPr/>
        </p:nvSpPr>
        <p:spPr>
          <a:xfrm>
            <a:off x="311700" y="4635325"/>
            <a:ext cx="8199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2"/>
                </a:solidFill>
              </a:rPr>
              <a:t>[5] T. Cohn, M. Petersen, M. Simchowitz, and R. Tedrake, “Non-euclidean motion planning with graphs of geodesically-convex sets,” 2023. [Online]. Available: https://arxiv.org/abs/2305.06341</a:t>
            </a:r>
            <a:endParaRPr sz="6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Demo (if there’s time)</a:t>
            </a:r>
            <a:endParaRPr/>
          </a:p>
        </p:txBody>
      </p:sp>
      <p:sp>
        <p:nvSpPr>
          <p:cNvPr id="225" name="Google Shape;22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231" name="Google Shape;23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 </a:t>
            </a:r>
            <a:r>
              <a:rPr lang="en"/>
              <a:t>Forward</a:t>
            </a:r>
            <a:r>
              <a:rPr lang="en"/>
              <a:t>:</a:t>
            </a:r>
            <a:endParaRPr/>
          </a:p>
        </p:txBody>
      </p:sp>
      <p:sp>
        <p:nvSpPr>
          <p:cNvPr id="237" name="Google Shape;237;p30"/>
          <p:cNvSpPr txBox="1"/>
          <p:nvPr>
            <p:ph idx="1" type="body"/>
          </p:nvPr>
        </p:nvSpPr>
        <p:spPr>
          <a:xfrm>
            <a:off x="311700" y="1152475"/>
            <a:ext cx="608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Experiment with and understand Drake GCS settings, for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Bezier_order, continuity_order, time_weight, max_rounded_paths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Figure out convex relaxation for robot arm constraint: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>
                <a:solidFill>
                  <a:schemeClr val="dk1"/>
                </a:solidFill>
              </a:rPr>
              <a:t> x=l1​cos(q1)​+l2​cos(q1​+q2), y=l1sin(⁡q1)+l2sin⁡(q1+q2)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Understand how to model c-space as a Riemannian manifold and implement it in code</a:t>
            </a:r>
            <a:endParaRPr/>
          </a:p>
        </p:txBody>
      </p:sp>
      <p:pic>
        <p:nvPicPr>
          <p:cNvPr id="238" name="Google Shape;238;p30"/>
          <p:cNvPicPr preferRelativeResize="0"/>
          <p:nvPr/>
        </p:nvPicPr>
        <p:blipFill rotWithShape="1">
          <a:blip r:embed="rId3">
            <a:alphaModFix/>
          </a:blip>
          <a:srcRect b="47622" l="0" r="0" t="0"/>
          <a:stretch/>
        </p:blipFill>
        <p:spPr>
          <a:xfrm>
            <a:off x="6815050" y="445025"/>
            <a:ext cx="2216724" cy="189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5050" y="2337850"/>
            <a:ext cx="1846725" cy="27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  <p:sp>
        <p:nvSpPr>
          <p:cNvPr id="246" name="Google Shape;24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[1] T. Marcucci, M. Petersen, D. von Wrangel, and R. Tedrake, “Motion planning around obstacles with convex optimization,” 2022. [Online]. Available: 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https://arxiv.org/abs/2205.04422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[2] The CGAL Project, “CGAL: Computational geometry algorithms library,” https://www.cgal.org/, 2026, accessed: April 22, 2026.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[3] H. Dai, A. Amice, P. Werner, A. Zhang, and R. Tedrake, “Certified polyhedral decompositions of collision-free configuration space,” 2023. [Online]. Available: </a:t>
            </a:r>
            <a:r>
              <a:rPr lang="en" sz="1200" u="sng">
                <a:solidFill>
                  <a:schemeClr val="hlink"/>
                </a:solidFill>
                <a:hlinkClick r:id="rId4"/>
              </a:rPr>
              <a:t>https://arxiv.org/abs/2302.12219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[4] Drake Development Team, “Drake: Model-based design and verification for robotics,” https://drake.mit.edu/, accessed: 2026-04-22.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Sources</a:t>
            </a:r>
            <a:endParaRPr/>
          </a:p>
        </p:txBody>
      </p:sp>
      <p:sp>
        <p:nvSpPr>
          <p:cNvPr id="253" name="Google Shape;25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3"/>
              </a:rPr>
              <a:t>https://automaticaddison.com/force-vector-diagrams-for-an-omni-directional-mobile-robot/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4"/>
              </a:rPr>
              <a:t>https://web2.qatar.cmu.edu/~gdicaro/16311-Fall17/slides/16311-4-Holonomy-WheeledRobots-Kinematics.pdf</a:t>
            </a:r>
            <a:r>
              <a:rPr lang="en" sz="1000">
                <a:solidFill>
                  <a:srgbClr val="000000"/>
                </a:solidFill>
              </a:rPr>
              <a:t>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5"/>
              </a:rPr>
              <a:t>https://webflow.riders.ai/en-blog/what-is-panda-arm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6"/>
              </a:rPr>
              <a:t>https://lavalle.pl/rrt/papers.html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7"/>
              </a:rPr>
              <a:t>https://natanaso.github.io/ece276b2018/ref/ECE276B_5_ConfigurationSpace.pdf</a:t>
            </a:r>
            <a:endParaRPr sz="1000"/>
          </a:p>
        </p:txBody>
      </p:sp>
      <p:sp>
        <p:nvSpPr>
          <p:cNvPr id="254" name="Google Shape;25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